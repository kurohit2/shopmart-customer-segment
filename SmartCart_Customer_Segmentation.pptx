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 (%)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6F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B4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Budget-Conscious Families</c:v>
                  </c:pt>
                  <c:pt idx="1">
                    <c:v>Affluent Loyalists</c:v>
                  </c:pt>
                  <c:pt idx="2">
                    <c:v>Window Shoppers</c:v>
                  </c:pt>
                  <c:pt idx="3">
                    <c:v>VIP Singles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7.6</c:v>
                </c:pt>
                <c:pt idx="1">
                  <c:v>16.7</c:v>
                </c:pt>
                <c:pt idx="2">
                  <c:v>14.2</c:v>
                </c:pt>
                <c:pt idx="3">
                  <c:v>32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1F2E54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657600" cy="3657600"/>
          </a:xfrm>
          <a:prstGeom prst="ellipse">
            <a:avLst/>
          </a:prstGeom>
          <a:solidFill>
            <a:srgbClr val="3DA9FC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548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3DA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SMARTCART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Intelligence Project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74320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One-Size-Fits-All Marketing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4 Data-Driven Customer Strategies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2,240 Customers Analyzed  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Machine Learning  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Actionable Segments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DA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Strategy Can't Serve Every Customer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77440"/>
            <a:ext cx="822960" cy="822960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560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Campaigns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977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— from budget shoppers to top spenders — receives the same offers, regardless of how they actually shop.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20116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377440"/>
            <a:ext cx="822960" cy="822960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560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High-Value Customers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54880" y="3977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knowing who our most valuable customers are, we risk losing them to competitors who notice them first.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201168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377440"/>
            <a:ext cx="822960" cy="822960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5603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383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to Spot At-Risk Users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49640" y="3977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Churn-prone customers go unnoticed until it's too late to win them back with the right offer.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48640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2,240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  •   </a:t>
            </a:r>
            <a:pPr algn="ctr" indent="0" marL="0">
              <a:buNone/>
            </a:pPr>
            <a:r>
              <a:rPr lang="en-US" sz="2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attributes   •   </a:t>
            </a:r>
            <a:pPr algn="ctr" indent="0" marL="0">
              <a:buNone/>
            </a:pPr>
            <a:r>
              <a:rPr lang="en-US" sz="2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strategy. We can do better.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DA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Letting the Data Reveal Natural Customer Groups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an AI technique called unsupervised machine learning. Instead of us telling the system how to label customers, it studied spending habits, shopping channels, and engagement patterns — and discovered groupings on its 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14213D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3154680"/>
            <a:ext cx="822960" cy="822960"/>
          </a:xfrm>
          <a:prstGeom prst="ellipse">
            <a:avLst/>
          </a:prstGeom>
          <a:solidFill>
            <a:srgbClr val="1F2E5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3337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114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Collect Data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572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2,240 customer profiles: demographics, spending, and shopping channels.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23260" y="4251960"/>
            <a:ext cx="182880" cy="182880"/>
          </a:xfrm>
          <a:prstGeom prst="ellipse">
            <a:avLst/>
          </a:prstGeom>
          <a:solidFill>
            <a:srgbClr val="3DA9FC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28346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14213D"/>
          </a:solidFill>
          <a:ln/>
        </p:spPr>
      </p:sp>
      <p:sp>
        <p:nvSpPr>
          <p:cNvPr id="12" name="Shape 9"/>
          <p:cNvSpPr/>
          <p:nvPr/>
        </p:nvSpPr>
        <p:spPr>
          <a:xfrm>
            <a:off x="4320540" y="3154680"/>
            <a:ext cx="822960" cy="822960"/>
          </a:xfrm>
          <a:prstGeom prst="ellipse">
            <a:avLst/>
          </a:prstGeom>
          <a:solidFill>
            <a:srgbClr val="1F2E5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33375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4114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Find Patterns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03320" y="4572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every customer to every other customer to find natural similarities.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57900" y="4251960"/>
            <a:ext cx="182880" cy="182880"/>
          </a:xfrm>
          <a:prstGeom prst="ellipse">
            <a:avLst/>
          </a:prstGeom>
          <a:solidFill>
            <a:srgbClr val="3DA9FC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9360" y="28346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14213D"/>
          </a:solidFill>
          <a:ln/>
        </p:spPr>
      </p:sp>
      <p:sp>
        <p:nvSpPr>
          <p:cNvPr id="18" name="Shape 14"/>
          <p:cNvSpPr/>
          <p:nvPr/>
        </p:nvSpPr>
        <p:spPr>
          <a:xfrm>
            <a:off x="7155180" y="3154680"/>
            <a:ext cx="822960" cy="822960"/>
          </a:xfrm>
          <a:prstGeom prst="ellipse">
            <a:avLst/>
          </a:prstGeom>
          <a:solidFill>
            <a:srgbClr val="1F2E5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33375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92240" y="4114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Form Segments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37960" y="4572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cluster into 4 distinct, statistically validated groups.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892540" y="4251960"/>
            <a:ext cx="182880" cy="182880"/>
          </a:xfrm>
          <a:prstGeom prst="ellipse">
            <a:avLst/>
          </a:prstGeom>
          <a:solidFill>
            <a:srgbClr val="3DA9FC"/>
          </a:solidFill>
          <a:ln/>
        </p:spPr>
      </p:sp>
      <p:sp>
        <p:nvSpPr>
          <p:cNvPr id="23" name="Shape 18"/>
          <p:cNvSpPr/>
          <p:nvPr/>
        </p:nvSpPr>
        <p:spPr>
          <a:xfrm>
            <a:off x="9144000" y="283464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14213D"/>
          </a:solidFill>
          <a:ln/>
        </p:spPr>
      </p:sp>
      <p:sp>
        <p:nvSpPr>
          <p:cNvPr id="24" name="Shape 19"/>
          <p:cNvSpPr/>
          <p:nvPr/>
        </p:nvSpPr>
        <p:spPr>
          <a:xfrm>
            <a:off x="9989820" y="3154680"/>
            <a:ext cx="822960" cy="822960"/>
          </a:xfrm>
          <a:prstGeom prst="ellipse">
            <a:avLst/>
          </a:prstGeom>
          <a:solidFill>
            <a:srgbClr val="1F2E54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0" y="333756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26880" y="41148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Target &amp; Act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372600" y="4572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gets a tailored marketing strategy.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DA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Told 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Drives Spend — But Channel Reveals the Real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822960" cy="822960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86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DA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6012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↔ Total Spend correlation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obvious: wealthier customers spend more — but by how much varies hugely between segments.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196596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286000"/>
            <a:ext cx="822960" cy="822960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688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2286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DA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-0.65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475488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↔ Website Visits correlation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754880" y="40233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highest earners barely use the website. They prefer catalog and in-store shopping — a channel mismatch in our current digital-first marketing.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0" y="196596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49640" y="2286000"/>
            <a:ext cx="822960" cy="822960"/>
          </a:xfrm>
          <a:prstGeom prst="ellipse">
            <a:avLst/>
          </a:prstGeom>
          <a:solidFill>
            <a:srgbClr val="F7F9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4688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509760" y="22860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3DA9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854964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Purchases ↔ Total Spend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549640" y="40233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shopping is the single strongest predictor of high lifetime spend — yet it's the most under-leveraged channel.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DA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Your 4 Customer Segments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1417320" cy="1874520"/>
          </a:xfrm>
          <a:prstGeom prst="roundRect">
            <a:avLst>
              <a:gd name="adj" fmla="val 5161"/>
            </a:avLst>
          </a:prstGeom>
          <a:solidFill>
            <a:srgbClr val="E639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520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68880" y="1965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Budget-Conscious Families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468880" y="240487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families who respond to deals, but rarely buy through catalog or premium channels.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46888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  </a:t>
            </a:r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$39,681 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  </a:t>
            </a:r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$222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55080" y="178308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011680"/>
            <a:ext cx="1417320" cy="1874520"/>
          </a:xfrm>
          <a:prstGeom prst="roundRect">
            <a:avLst>
              <a:gd name="adj" fmla="val 5161"/>
            </a:avLst>
          </a:prstGeom>
          <a:solidFill>
            <a:srgbClr val="2A6F9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21945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0" y="3520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8183880" y="1965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Affluent Loyalists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8183880" y="240487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spenders who shop in-store and via catalog — the steady backbone of revenue.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18388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  </a:t>
            </a:r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$72,808 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  </a:t>
            </a:r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$1,237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0080" y="43891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4617720"/>
            <a:ext cx="1417320" cy="1874520"/>
          </a:xfrm>
          <a:prstGeom prst="roundRect">
            <a:avLst>
              <a:gd name="adj" fmla="val 5161"/>
            </a:avLst>
          </a:prstGeom>
          <a:solidFill>
            <a:srgbClr val="E9B44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48006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8680" y="6126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468880" y="4572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Shoppers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2468880" y="501091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website often but spend the least — a conversion opportunity.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2468880" y="5989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  </a:t>
            </a:r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$36,960 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  </a:t>
            </a:r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$166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355080" y="43891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83680" y="4617720"/>
            <a:ext cx="1417320" cy="1874520"/>
          </a:xfrm>
          <a:prstGeom prst="roundRect">
            <a:avLst>
              <a:gd name="adj" fmla="val 5161"/>
            </a:avLst>
          </a:prstGeom>
          <a:solidFill>
            <a:srgbClr val="2A9D8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480060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583680" y="6126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183880" y="4572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 Singles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8183880" y="5010912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income, top spenders, and by far the best campaign responders. Your best ROI.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8183880" y="5989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  </a:t>
            </a:r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$70,723  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  </a:t>
            </a:r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$1,190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DA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Spotlight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Premium Tier: Your Revenue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868680" cy="868680"/>
          </a:xfrm>
          <a:prstGeom prst="ellipse">
            <a:avLst/>
          </a:prstGeom>
          <a:solidFill>
            <a:srgbClr val="2A6F9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4505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240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Affluent Loyalists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01168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Couples, fewer children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$72,808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012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Income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3756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$1,237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33756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Spend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012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Purchases / yr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3756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33756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Purchases / yr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60120" y="5532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Response Rate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337560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337560" y="5532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Visits / month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46520" y="19202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66560" y="2240280"/>
            <a:ext cx="868680" cy="86868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2450592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818120" y="2240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 Singles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781812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households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76656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$70,723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76656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Income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914400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$1,190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914400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Spend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76656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676656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Purchases / yr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914400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</a:t>
            </a:r>
            <a:endParaRPr lang="en-US" sz="2200" dirty="0"/>
          </a:p>
        </p:txBody>
      </p:sp>
      <p:sp>
        <p:nvSpPr>
          <p:cNvPr id="33" name="Text 29"/>
          <p:cNvSpPr/>
          <p:nvPr/>
        </p:nvSpPr>
        <p:spPr>
          <a:xfrm>
            <a:off x="914400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Purchases / yr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766560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32.0%</a:t>
            </a:r>
            <a:endParaRPr lang="en-US" sz="2200" dirty="0"/>
          </a:p>
        </p:txBody>
      </p:sp>
      <p:sp>
        <p:nvSpPr>
          <p:cNvPr id="35" name="Text 31"/>
          <p:cNvSpPr/>
          <p:nvPr/>
        </p:nvSpPr>
        <p:spPr>
          <a:xfrm>
            <a:off x="6766560" y="5532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Response Rate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9144000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</a:t>
            </a:r>
            <a:endParaRPr lang="en-US" sz="2200" dirty="0"/>
          </a:p>
        </p:txBody>
      </p:sp>
      <p:sp>
        <p:nvSpPr>
          <p:cNvPr id="37" name="Text 33"/>
          <p:cNvSpPr/>
          <p:nvPr/>
        </p:nvSpPr>
        <p:spPr>
          <a:xfrm>
            <a:off x="9144000" y="5532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Visits / month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Singles respond to campaigns at nearly 2x the rate of Affluent Loyalists — the single best return on marketing spend in the entire customer base.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DA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Spotlight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Seekers: Volume &amp; Growth Potential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868680" cy="8686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4505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240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Budget-Conscious Families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01168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with children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$39,681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6012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Income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3756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33756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Spend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012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Visits / month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3756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33756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Deals-Driven Purchases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60120" y="5532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Response Rate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337560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337560" y="5532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Children at Home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46520" y="19202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66560" y="2240280"/>
            <a:ext cx="868680" cy="868680"/>
          </a:xfrm>
          <a:prstGeom prst="ellipse">
            <a:avLst/>
          </a:prstGeom>
          <a:solidFill>
            <a:srgbClr val="E9B44C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2450592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818120" y="2240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Shoppers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781812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households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76656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$36,960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76656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Income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914400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$166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914400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Spend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76656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676656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Visits / month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9144000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2200" dirty="0"/>
          </a:p>
        </p:txBody>
      </p:sp>
      <p:sp>
        <p:nvSpPr>
          <p:cNvPr id="33" name="Text 29"/>
          <p:cNvSpPr/>
          <p:nvPr/>
        </p:nvSpPr>
        <p:spPr>
          <a:xfrm>
            <a:off x="9144000" y="4617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Deals-Driven Purchases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766560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14.2%</a:t>
            </a:r>
            <a:endParaRPr lang="en-US" sz="2200" dirty="0"/>
          </a:p>
        </p:txBody>
      </p:sp>
      <p:sp>
        <p:nvSpPr>
          <p:cNvPr id="35" name="Text 31"/>
          <p:cNvSpPr/>
          <p:nvPr/>
        </p:nvSpPr>
        <p:spPr>
          <a:xfrm>
            <a:off x="6766560" y="5532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Response Rate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9144000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2200" dirty="0"/>
          </a:p>
        </p:txBody>
      </p:sp>
      <p:sp>
        <p:nvSpPr>
          <p:cNvPr id="37" name="Text 33"/>
          <p:cNvSpPr/>
          <p:nvPr/>
        </p:nvSpPr>
        <p:spPr>
          <a:xfrm>
            <a:off x="9144000" y="5532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Children at Home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groups visit the website almost twice as often as our premium segments — high engagement, low conversion. A clear opportunity for targeted offers.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DA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Marketing Pays Off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Response Rate by Segment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737360"/>
            <a:ext cx="3017520" cy="4572000"/>
          </a:xfrm>
          <a:prstGeom prst="roundRect">
            <a:avLst>
              <a:gd name="adj" fmla="val 2424"/>
            </a:avLst>
          </a:prstGeom>
          <a:solidFill>
            <a:srgbClr val="1421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103120"/>
            <a:ext cx="6400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0" y="2834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32.0%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8778240" y="37033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Singles respond to campaigns nearly 4x more than Budget-Conscious Families.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778240" y="50749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3DA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Prioritizing premium segments in upcoming campaigns could significantly improve overall marketing ROI.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DA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Insight to Action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Tailored Playbook for Each Segment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777240" cy="7772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537460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47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Budget-Conscious Families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74520" y="2240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Deals &amp; Family Bundles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74520" y="267919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discount codes, family-size bundles, and coupon-triggered emails — the channel they already respond to.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7830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377440"/>
            <a:ext cx="777240" cy="777240"/>
          </a:xfrm>
          <a:prstGeom prst="ellipse">
            <a:avLst/>
          </a:prstGeom>
          <a:solidFill>
            <a:srgbClr val="2A6F9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537460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1947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Loyalists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589520" y="2240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&amp; Catalog-First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589520" y="267919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loyalty program and prioritize catalog mailers and in-store events over digital ads.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572000"/>
            <a:ext cx="777240" cy="777240"/>
          </a:xfrm>
          <a:prstGeom prst="ellipse">
            <a:avLst/>
          </a:prstGeom>
          <a:solidFill>
            <a:srgbClr val="E9B44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4732020"/>
            <a:ext cx="429768" cy="4297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4142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Shoppers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874520" y="4434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the Browsers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74520" y="487375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 frequent site visitors with personalized, time-limited offers to turn browsing into buying.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5508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29400" y="4572000"/>
            <a:ext cx="777240" cy="7772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4732020"/>
            <a:ext cx="429768" cy="4297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89520" y="4142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Singles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589520" y="4434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White-Glove Premium Service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589520" y="487375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response rate of any group — invest in concierge service, early access, and exclusive premium products.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F2E5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Insights to Impact: The Next 90 Days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1F2E54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331720"/>
            <a:ext cx="777240" cy="777240"/>
          </a:xfrm>
          <a:prstGeom prst="ellipse">
            <a:avLst/>
          </a:prstGeom>
          <a:solidFill>
            <a:srgbClr val="3DA9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5146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all 2,236 customers with their segment inside the CRM and marketing platforms.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10128" y="3941064"/>
            <a:ext cx="164592" cy="16459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2" name="Shape 9"/>
          <p:cNvSpPr/>
          <p:nvPr/>
        </p:nvSpPr>
        <p:spPr>
          <a:xfrm>
            <a:off x="3538728" y="201168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1F2E54"/>
          </a:solidFill>
          <a:ln/>
        </p:spPr>
      </p:sp>
      <p:sp>
        <p:nvSpPr>
          <p:cNvPr id="13" name="Shape 10"/>
          <p:cNvSpPr/>
          <p:nvPr/>
        </p:nvSpPr>
        <p:spPr>
          <a:xfrm>
            <a:off x="4453128" y="2331720"/>
            <a:ext cx="777240" cy="777240"/>
          </a:xfrm>
          <a:prstGeom prst="ellipse">
            <a:avLst/>
          </a:prstGeom>
          <a:solidFill>
            <a:srgbClr val="3DA9F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5146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21608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721608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Campaigns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767328" y="41148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tailored offers per segment — starting with VIP Singles and Affluent Loyalists.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08776" y="3941064"/>
            <a:ext cx="164592" cy="16459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9" name="Shape 15"/>
          <p:cNvSpPr/>
          <p:nvPr/>
        </p:nvSpPr>
        <p:spPr>
          <a:xfrm>
            <a:off x="6437376" y="201168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1F2E54"/>
          </a:solidFill>
          <a:ln/>
        </p:spPr>
      </p:sp>
      <p:sp>
        <p:nvSpPr>
          <p:cNvPr id="20" name="Shape 16"/>
          <p:cNvSpPr/>
          <p:nvPr/>
        </p:nvSpPr>
        <p:spPr>
          <a:xfrm>
            <a:off x="7351776" y="2331720"/>
            <a:ext cx="777240" cy="777240"/>
          </a:xfrm>
          <a:prstGeom prst="ellipse">
            <a:avLst/>
          </a:prstGeom>
          <a:solidFill>
            <a:srgbClr val="3DA9F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251460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20256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7–12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620256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&amp; Refine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665976" y="41148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response rate, spend lift, and retention by segment; refine targeting rules.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107424" y="3941064"/>
            <a:ext cx="164592" cy="164592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6" name="Shape 21"/>
          <p:cNvSpPr/>
          <p:nvPr/>
        </p:nvSpPr>
        <p:spPr>
          <a:xfrm>
            <a:off x="9336024" y="201168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1F2E54"/>
          </a:solidFill>
          <a:ln/>
        </p:spPr>
      </p:sp>
      <p:sp>
        <p:nvSpPr>
          <p:cNvPr id="27" name="Shape 22"/>
          <p:cNvSpPr/>
          <p:nvPr/>
        </p:nvSpPr>
        <p:spPr>
          <a:xfrm>
            <a:off x="10250424" y="2331720"/>
            <a:ext cx="777240" cy="777240"/>
          </a:xfrm>
          <a:prstGeom prst="ellipse">
            <a:avLst/>
          </a:prstGeom>
          <a:solidFill>
            <a:srgbClr val="3DA9FC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3304" y="251460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518904" y="3246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518904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Re-cluster Quarterly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9564624" y="41148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model as new customer data arrives to keep segments accurate and current.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1F2E54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3DA9FC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088" y="18288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432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0" y="37490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segments. One smarter way to grow SmartCart.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SmartCart Customer Intelligence</dc:title>
  <dc:subject>PptxGenJS Presentation</dc:subject>
  <dc:creator>SmartCart AI/ML Team</dc:creator>
  <cp:lastModifiedBy>SmartCart AI/ML Team</cp:lastModifiedBy>
  <cp:revision>1</cp:revision>
  <dcterms:created xsi:type="dcterms:W3CDTF">2026-06-15T06:48:12Z</dcterms:created>
  <dcterms:modified xsi:type="dcterms:W3CDTF">2026-06-15T06:48:12Z</dcterms:modified>
</cp:coreProperties>
</file>